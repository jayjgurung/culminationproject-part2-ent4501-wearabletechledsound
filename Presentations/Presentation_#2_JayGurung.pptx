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Sora SemiBold"/>
      <p:regular r:id="rId22"/>
      <p:bold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Sora Light"/>
      <p:regular r:id="rId28"/>
      <p:bold r:id="rId29"/>
    </p:embeddedFont>
    <p:embeddedFont>
      <p:font typeface="Sora ExtraLight"/>
      <p:regular r:id="rId30"/>
      <p:bold r:id="rId31"/>
    </p:embeddedFont>
    <p:embeddedFont>
      <p:font typeface="Sora"/>
      <p:regular r:id="rId32"/>
      <p:bold r:id="rId33"/>
    </p:embeddedFont>
    <p:embeddedFont>
      <p:font typeface="Sora Medium"/>
      <p:regular r:id="rId34"/>
      <p:bold r:id="rId35"/>
    </p:embeddedFont>
    <p:embeddedFont>
      <p:font typeface="IBM Plex Sa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ExtraLight-bold.fntdata"/><Relationship Id="rId30" Type="http://schemas.openxmlformats.org/officeDocument/2006/relationships/font" Target="fonts/SoraExtraLight-regular.fntdata"/><Relationship Id="rId33" Type="http://schemas.openxmlformats.org/officeDocument/2006/relationships/font" Target="fonts/Sora-bold.fntdata"/><Relationship Id="rId32" Type="http://schemas.openxmlformats.org/officeDocument/2006/relationships/font" Target="fonts/Sora-regular.fntdata"/><Relationship Id="rId35" Type="http://schemas.openxmlformats.org/officeDocument/2006/relationships/font" Target="fonts/SoraMedium-bold.fntdata"/><Relationship Id="rId34" Type="http://schemas.openxmlformats.org/officeDocument/2006/relationships/font" Target="fonts/SoraMedium-regular.fntdata"/><Relationship Id="rId37" Type="http://schemas.openxmlformats.org/officeDocument/2006/relationships/font" Target="fonts/IBMPlexSansSemiBold-bold.fntdata"/><Relationship Id="rId36" Type="http://schemas.openxmlformats.org/officeDocument/2006/relationships/font" Target="fonts/IBMPlexSansSemiBold-regular.fntdata"/><Relationship Id="rId39" Type="http://schemas.openxmlformats.org/officeDocument/2006/relationships/font" Target="fonts/IBMPlexSansSemiBold-boldItalic.fntdata"/><Relationship Id="rId38" Type="http://schemas.openxmlformats.org/officeDocument/2006/relationships/font" Target="fonts/IBMPlexSansSemiBold-italic.fntdata"/><Relationship Id="rId20" Type="http://schemas.openxmlformats.org/officeDocument/2006/relationships/font" Target="fonts/IBMPlexSans-italic.fntdata"/><Relationship Id="rId22" Type="http://schemas.openxmlformats.org/officeDocument/2006/relationships/font" Target="fonts/SoraSemiBold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SoraSemiBold-bold.fntdata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SoraLight-regular.fntdata"/><Relationship Id="rId27" Type="http://schemas.openxmlformats.org/officeDocument/2006/relationships/font" Target="fonts/IBMPlexSansMedium-boldItalic.fntdata"/><Relationship Id="rId29" Type="http://schemas.openxmlformats.org/officeDocument/2006/relationships/font" Target="fonts/Sora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012f7fe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012f7fe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012f7fe79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a012f7fe79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012f7fe79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a012f7fe79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a012f7fe79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a012f7fe79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a012f7fe79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a012f7fe79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a012f7fe79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a012f7fe79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a012f7fe79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a012f7fe79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a012f7fe79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a012f7fe79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a012f7fe79_0_1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a012f7fe79_0_1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a012f7fe79_0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a012f7fe79_0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a012f7fe79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a012f7fe79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012f7fe79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3a012f7fe79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7.jpg"/><Relationship Id="rId5" Type="http://schemas.openxmlformats.org/officeDocument/2006/relationships/image" Target="../media/image14.jpg"/><Relationship Id="rId6" Type="http://schemas.openxmlformats.org/officeDocument/2006/relationships/hyperlink" Target="https://www.camvate.com/products/camvate-96led-camera-video-fill-light-for-vlogging-studio-photography-3452?srsltid=AfmBOoo14rDmt1jzuPrxqEeru_34MRtbjGYPd2O_im0AMxPadC_TPqspHJU" TargetMode="External"/><Relationship Id="rId7" Type="http://schemas.openxmlformats.org/officeDocument/2006/relationships/hyperlink" Target="https://www.bhphotovideo.com/c/product/1903738-REG/smallrig_5357_rm_25c_mini_led.html/?ap=y&amp;ap=y&amp;smp=y&amp;smp=y&amp;store=420&amp;smpm=ba_f2_lar&amp;lsft=BI%3A514&amp;gad_source=1&amp;gad_campaignid=1413135038&amp;gbraid=0AAAAAD7yMh0PXAnYg1wJh60zFZZSIueiM&amp;gclid=CjwKCAiAwqHIBhAEEiwAx9cTefRMpS57gcdqBhYnI20fNk0JA4-FFSM_23mQdcZv3qRWNVBMUIlImBoCyt0QAvD_BwE" TargetMode="External"/><Relationship Id="rId8" Type="http://schemas.openxmlformats.org/officeDocument/2006/relationships/hyperlink" Target="https://lumecube.com/products/panel-pro?nbt=nb%3Aadwords%3Ax%3A21932544690%3A%3A&amp;nb_adtype=pla&amp;nb_kwd=&amp;nb_ti=&amp;nb_mi=123218058&amp;nb_pc=online&amp;nb_pi=shopify_us_4852488175673_33039520137273&amp;nb_ppi=&amp;nb_placement=&amp;nb_li_ms=&amp;nb_lp_ms=&amp;nb_fii=&amp;nb_ap=&amp;nb_mt=&amp;tw_source=google&amp;tw_adid=&amp;tw_campaign=21932544690&amp;tw_kwdid=&amp;gad_source=1&amp;gad_campaignid=21939016535&amp;gbraid=0AAAAAC_fm9LMwFuPaSrkeoK-mbt41Bguj&amp;gclid=CjwKCAiAwqHIBhAEEiwAx9cTeRbcMH8Biv-jJe1LVdvL1GDiUHkt5k4_Q7AuR1YAVEYhfx_kQ_TnaxoCXdgQAvD_Bw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C-RTJQQBsoHHfuVCgx-v2XTo1CfS19VZ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CULMINATION PROJECT</a:t>
            </a:r>
            <a:br>
              <a:rPr lang="en">
                <a:latin typeface="Sora"/>
                <a:ea typeface="Sora"/>
                <a:cs typeface="Sora"/>
                <a:sym typeface="Sora"/>
              </a:rPr>
            </a:br>
            <a:r>
              <a:rPr lang="en">
                <a:latin typeface="Sora"/>
                <a:ea typeface="Sora"/>
                <a:cs typeface="Sora"/>
                <a:sym typeface="Sora"/>
              </a:rPr>
              <a:t>CITY TECH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2025 /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FALL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/ NOVEMBER 4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REACTIVE LED SYSTEM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Jay J Gurung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3150"/>
            <a:ext cx="20019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898" name="Google Shape;898;p52"/>
          <p:cNvSpPr txBox="1"/>
          <p:nvPr>
            <p:ph idx="5" type="subTitle"/>
          </p:nvPr>
        </p:nvSpPr>
        <p:spPr>
          <a:xfrm>
            <a:off x="4482800" y="3398130"/>
            <a:ext cx="1621800" cy="217200"/>
          </a:xfrm>
          <a:prstGeom prst="rect">
            <a:avLst/>
          </a:prstGeom>
        </p:spPr>
        <p:txBody>
          <a:bodyPr anchorCtr="0" anchor="t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2"/>
              <a:t>5.</a:t>
            </a:r>
            <a:endParaRPr b="0" sz="153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32"/>
          </a:p>
        </p:txBody>
      </p:sp>
      <p:sp>
        <p:nvSpPr>
          <p:cNvPr id="899" name="Google Shape;899;p52"/>
          <p:cNvSpPr txBox="1"/>
          <p:nvPr>
            <p:ph idx="6" type="subTitle"/>
          </p:nvPr>
        </p:nvSpPr>
        <p:spPr>
          <a:xfrm>
            <a:off x="4482800" y="3674845"/>
            <a:ext cx="4349700" cy="303600"/>
          </a:xfrm>
          <a:prstGeom prst="rect">
            <a:avLst/>
          </a:prstGeom>
        </p:spPr>
        <p:txBody>
          <a:bodyPr anchorCtr="0" anchor="b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4"/>
              <a:t>NEXT STEPS</a:t>
            </a:r>
            <a:endParaRPr sz="1094"/>
          </a:p>
        </p:txBody>
      </p:sp>
      <p:sp>
        <p:nvSpPr>
          <p:cNvPr id="900" name="Google Shape;900;p52"/>
          <p:cNvSpPr txBox="1"/>
          <p:nvPr>
            <p:ph idx="7" type="subTitle"/>
          </p:nvPr>
        </p:nvSpPr>
        <p:spPr>
          <a:xfrm>
            <a:off x="4482800" y="2813683"/>
            <a:ext cx="1621800" cy="217200"/>
          </a:xfrm>
          <a:prstGeom prst="rect">
            <a:avLst/>
          </a:prstGeom>
        </p:spPr>
        <p:txBody>
          <a:bodyPr anchorCtr="0" anchor="t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2"/>
              <a:t>4</a:t>
            </a:r>
            <a:r>
              <a:rPr b="0" lang="en" sz="1532"/>
              <a:t>.</a:t>
            </a:r>
            <a:endParaRPr b="0" sz="1532"/>
          </a:p>
        </p:txBody>
      </p:sp>
      <p:sp>
        <p:nvSpPr>
          <p:cNvPr id="901" name="Google Shape;901;p52"/>
          <p:cNvSpPr txBox="1"/>
          <p:nvPr>
            <p:ph idx="8" type="subTitle"/>
          </p:nvPr>
        </p:nvSpPr>
        <p:spPr>
          <a:xfrm>
            <a:off x="4482800" y="3091261"/>
            <a:ext cx="4349700" cy="303600"/>
          </a:xfrm>
          <a:prstGeom prst="rect">
            <a:avLst/>
          </a:prstGeom>
        </p:spPr>
        <p:txBody>
          <a:bodyPr anchorCtr="0" anchor="b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4"/>
              <a:t>ENCLOSURE DESIGN - Autodesk Fusion </a:t>
            </a:r>
            <a:endParaRPr sz="1094"/>
          </a:p>
        </p:txBody>
      </p:sp>
      <p:sp>
        <p:nvSpPr>
          <p:cNvPr id="902" name="Google Shape;902;p52"/>
          <p:cNvSpPr txBox="1"/>
          <p:nvPr>
            <p:ph idx="9" type="subTitle"/>
          </p:nvPr>
        </p:nvSpPr>
        <p:spPr>
          <a:xfrm>
            <a:off x="4482800" y="2230098"/>
            <a:ext cx="1621800" cy="217200"/>
          </a:xfrm>
          <a:prstGeom prst="rect">
            <a:avLst/>
          </a:prstGeom>
        </p:spPr>
        <p:txBody>
          <a:bodyPr anchorCtr="0" anchor="t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2"/>
              <a:t>3.</a:t>
            </a:r>
            <a:endParaRPr b="0" sz="1532"/>
          </a:p>
        </p:txBody>
      </p:sp>
      <p:sp>
        <p:nvSpPr>
          <p:cNvPr id="903" name="Google Shape;903;p52"/>
          <p:cNvSpPr txBox="1"/>
          <p:nvPr>
            <p:ph idx="13" type="subTitle"/>
          </p:nvPr>
        </p:nvSpPr>
        <p:spPr>
          <a:xfrm>
            <a:off x="4482800" y="2508087"/>
            <a:ext cx="4349700" cy="303600"/>
          </a:xfrm>
          <a:prstGeom prst="rect">
            <a:avLst/>
          </a:prstGeom>
        </p:spPr>
        <p:txBody>
          <a:bodyPr anchorCtr="0" anchor="b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4"/>
              <a:t>PCB </a:t>
            </a:r>
            <a:r>
              <a:rPr lang="en" sz="1094"/>
              <a:t>DESIGN</a:t>
            </a:r>
            <a:r>
              <a:rPr lang="en" sz="1094"/>
              <a:t> - KiCad</a:t>
            </a:r>
            <a:endParaRPr sz="1094"/>
          </a:p>
        </p:txBody>
      </p:sp>
      <p:sp>
        <p:nvSpPr>
          <p:cNvPr id="904" name="Google Shape;904;p52"/>
          <p:cNvSpPr txBox="1"/>
          <p:nvPr>
            <p:ph idx="14" type="subTitle"/>
          </p:nvPr>
        </p:nvSpPr>
        <p:spPr>
          <a:xfrm>
            <a:off x="4482800" y="1646924"/>
            <a:ext cx="1621800" cy="217200"/>
          </a:xfrm>
          <a:prstGeom prst="rect">
            <a:avLst/>
          </a:prstGeom>
        </p:spPr>
        <p:txBody>
          <a:bodyPr anchorCtr="0" anchor="t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2"/>
              <a:t>2</a:t>
            </a:r>
            <a:r>
              <a:rPr b="0" lang="en" sz="1532"/>
              <a:t>.</a:t>
            </a:r>
            <a:endParaRPr b="0" sz="1532"/>
          </a:p>
        </p:txBody>
      </p:sp>
      <p:sp>
        <p:nvSpPr>
          <p:cNvPr id="905" name="Google Shape;905;p52"/>
          <p:cNvSpPr txBox="1"/>
          <p:nvPr>
            <p:ph idx="15" type="subTitle"/>
          </p:nvPr>
        </p:nvSpPr>
        <p:spPr>
          <a:xfrm>
            <a:off x="4482800" y="1312150"/>
            <a:ext cx="4349700" cy="303600"/>
          </a:xfrm>
          <a:prstGeom prst="rect">
            <a:avLst/>
          </a:prstGeom>
        </p:spPr>
        <p:txBody>
          <a:bodyPr anchorCtr="0" anchor="b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4"/>
              <a:t>PRODUCT DESIGN INSPO  &amp; </a:t>
            </a:r>
            <a:r>
              <a:rPr lang="en" sz="1094"/>
              <a:t>SKETCH</a:t>
            </a:r>
            <a:endParaRPr sz="1094"/>
          </a:p>
        </p:txBody>
      </p:sp>
      <p:sp>
        <p:nvSpPr>
          <p:cNvPr id="906" name="Google Shape;906;p52"/>
          <p:cNvSpPr txBox="1"/>
          <p:nvPr>
            <p:ph idx="16" type="subTitle"/>
          </p:nvPr>
        </p:nvSpPr>
        <p:spPr>
          <a:xfrm>
            <a:off x="4482800" y="1063750"/>
            <a:ext cx="1621800" cy="217200"/>
          </a:xfrm>
          <a:prstGeom prst="rect">
            <a:avLst/>
          </a:prstGeom>
        </p:spPr>
        <p:txBody>
          <a:bodyPr anchorCtr="0" anchor="t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2"/>
              <a:t>1</a:t>
            </a:r>
            <a:r>
              <a:rPr b="0" lang="en" sz="1532"/>
              <a:t>.</a:t>
            </a:r>
            <a:endParaRPr b="0" sz="1532"/>
          </a:p>
        </p:txBody>
      </p:sp>
      <p:sp>
        <p:nvSpPr>
          <p:cNvPr id="907" name="Google Shape;907;p52"/>
          <p:cNvSpPr txBox="1"/>
          <p:nvPr>
            <p:ph idx="15" type="subTitle"/>
          </p:nvPr>
        </p:nvSpPr>
        <p:spPr>
          <a:xfrm>
            <a:off x="4442525" y="1924912"/>
            <a:ext cx="4349700" cy="303600"/>
          </a:xfrm>
          <a:prstGeom prst="rect">
            <a:avLst/>
          </a:prstGeom>
        </p:spPr>
        <p:txBody>
          <a:bodyPr anchorCtr="0" anchor="b" bIns="100100" lIns="0" spcFirstLastPara="1" rIns="1001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4"/>
              <a:t>SYSTEM UPGRADE  &amp; EXPANSION</a:t>
            </a:r>
            <a:endParaRPr sz="1094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3"/>
          <p:cNvSpPr/>
          <p:nvPr/>
        </p:nvSpPr>
        <p:spPr>
          <a:xfrm rot="1181745">
            <a:off x="3565253" y="751191"/>
            <a:ext cx="2013499" cy="1991018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3" name="Google Shape;913;p53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4" name="Google Shape;914;p53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5" name="Google Shape;915;p53"/>
          <p:cNvSpPr/>
          <p:nvPr/>
        </p:nvSpPr>
        <p:spPr>
          <a:xfrm flipH="1" rot="10800000">
            <a:off x="6153225" y="2339050"/>
            <a:ext cx="713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6" name="Google Shape;916;p53"/>
          <p:cNvSpPr/>
          <p:nvPr/>
        </p:nvSpPr>
        <p:spPr>
          <a:xfrm flipH="1">
            <a:off x="1158450" y="1403425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7" name="Google Shape;917;p53"/>
          <p:cNvSpPr/>
          <p:nvPr/>
        </p:nvSpPr>
        <p:spPr>
          <a:xfrm flipH="1">
            <a:off x="1158450" y="1549150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18" name="Google Shape;918;p53" title="shopping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18407" l="-6742" r="-11544" t="-25064"/>
          <a:stretch/>
        </p:blipFill>
        <p:spPr>
          <a:xfrm>
            <a:off x="1182400" y="941438"/>
            <a:ext cx="1649400" cy="1649400"/>
          </a:xfrm>
          <a:prstGeom prst="ellipse">
            <a:avLst/>
          </a:prstGeom>
        </p:spPr>
      </p:pic>
      <p:pic>
        <p:nvPicPr>
          <p:cNvPr id="919" name="Google Shape;919;p53" title="1751499991_1903738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-3915" l="-7750" r="-7750" t="-11584"/>
          <a:stretch/>
        </p:blipFill>
        <p:spPr>
          <a:xfrm>
            <a:off x="3747300" y="921988"/>
            <a:ext cx="1649400" cy="1649400"/>
          </a:xfrm>
          <a:prstGeom prst="ellipse">
            <a:avLst/>
          </a:prstGeom>
        </p:spPr>
      </p:pic>
      <p:pic>
        <p:nvPicPr>
          <p:cNvPr id="920" name="Google Shape;920;p53" title="230427_Shopify_RGBPanelPro2_01_1160x1450_9fce6706-5fcf-414e-9973-9e84bdee03e2_700x.jp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880" l="6220" r="-6220" t="17120"/>
          <a:stretch/>
        </p:blipFill>
        <p:spPr>
          <a:xfrm>
            <a:off x="6080650" y="941438"/>
            <a:ext cx="1649400" cy="1649400"/>
          </a:xfrm>
          <a:prstGeom prst="ellipse">
            <a:avLst/>
          </a:prstGeom>
        </p:spPr>
      </p:pic>
      <p:sp>
        <p:nvSpPr>
          <p:cNvPr id="921" name="Google Shape;921;p5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922" name="Google Shape;922;p53"/>
          <p:cNvSpPr txBox="1"/>
          <p:nvPr>
            <p:ph idx="13" type="title"/>
          </p:nvPr>
        </p:nvSpPr>
        <p:spPr>
          <a:xfrm>
            <a:off x="38100" y="93150"/>
            <a:ext cx="29295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923" name="Google Shape;923;p53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LED with magnetic filter attachment, white or yellow </a:t>
            </a:r>
            <a:r>
              <a:rPr lang="en"/>
              <a:t>temperature</a:t>
            </a:r>
            <a:r>
              <a:rPr lang="en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Runs on 2 AA batteries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$20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4" name="Google Shape;924;p53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CAMVATE 96led Camera Video Fill Light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25" name="Google Shape;925;p53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Rechargable.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Adjustable Color Temp knob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$60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6" name="Google Shape;926;p53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SmallRig RM 25C Mini LED Video Light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27" name="Google Shape;927;p53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Controllable via App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 Colors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Rechargeable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$149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3"/>
          <p:cNvSpPr txBox="1"/>
          <p:nvPr>
            <p:ph idx="9" type="title"/>
          </p:nvPr>
        </p:nvSpPr>
        <p:spPr>
          <a:xfrm>
            <a:off x="6026050" y="2960000"/>
            <a:ext cx="1758600" cy="24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RGB PANEL PRO 2.0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29" name="Google Shape;929;p53"/>
          <p:cNvSpPr txBox="1"/>
          <p:nvPr>
            <p:ph type="title"/>
          </p:nvPr>
        </p:nvSpPr>
        <p:spPr>
          <a:xfrm>
            <a:off x="38100" y="397750"/>
            <a:ext cx="4487100" cy="249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1. PRODUCT DESIGN INSPIRATIONS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935" name="Google Shape;935;p54"/>
          <p:cNvSpPr txBox="1"/>
          <p:nvPr>
            <p:ph idx="3" type="title"/>
          </p:nvPr>
        </p:nvSpPr>
        <p:spPr>
          <a:xfrm>
            <a:off x="115025" y="502775"/>
            <a:ext cx="8101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PRODUCT DESIGN SKETCH</a:t>
            </a:r>
            <a:endParaRPr/>
          </a:p>
        </p:txBody>
      </p:sp>
      <p:sp>
        <p:nvSpPr>
          <p:cNvPr id="936" name="Google Shape;936;p54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pic>
        <p:nvPicPr>
          <p:cNvPr id="937" name="Google Shape;937;p54" title="IMG_3132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400" y="1566988"/>
            <a:ext cx="5062477" cy="304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4" title="1545237456_144929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0313" y="2357225"/>
            <a:ext cx="1773325" cy="17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5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4" name="Google Shape;944;p55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5" name="Google Shape;945;p55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6" name="Google Shape;946;p55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7" name="Google Shape;947;p55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8" name="Google Shape;948;p55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9" name="Google Shape;949;p55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Expanded from 5 LED to 25</a:t>
            </a:r>
            <a:endParaRPr/>
          </a:p>
        </p:txBody>
      </p:sp>
      <p:sp>
        <p:nvSpPr>
          <p:cNvPr id="950" name="Google Shape;950;p55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LEDs are mapped to each bandwidth instead of 1 LED for each bandwidth.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Adds more  brightness.</a:t>
            </a:r>
            <a:endParaRPr/>
          </a:p>
        </p:txBody>
      </p:sp>
      <p:sp>
        <p:nvSpPr>
          <p:cNvPr id="951" name="Google Shape;951;p55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scalability.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be adding more features.</a:t>
            </a:r>
            <a:endParaRPr/>
          </a:p>
        </p:txBody>
      </p:sp>
      <p:sp>
        <p:nvSpPr>
          <p:cNvPr id="952" name="Google Shape;952;p55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the sketch to account for addressable LED to work with 25 LEDS.</a:t>
            </a:r>
            <a:br>
              <a:rPr lang="en"/>
            </a:br>
            <a:r>
              <a:rPr lang="en"/>
              <a:t>Updated the </a:t>
            </a:r>
            <a:r>
              <a:rPr lang="en"/>
              <a:t>sketch</a:t>
            </a:r>
            <a:r>
              <a:rPr lang="en"/>
              <a:t> to account for 3 new pots. Functions not assigned yet.</a:t>
            </a:r>
            <a:endParaRPr/>
          </a:p>
        </p:txBody>
      </p:sp>
      <p:sp>
        <p:nvSpPr>
          <p:cNvPr id="953" name="Google Shape;953;p55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Changes Made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5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What It Does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5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Expanded from 1 control knob to 4 pots.</a:t>
            </a:r>
            <a:endParaRPr/>
          </a:p>
        </p:txBody>
      </p:sp>
      <p:sp>
        <p:nvSpPr>
          <p:cNvPr id="956" name="Google Shape;956;p55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Arduino IDE Sketch 3.0</a:t>
            </a:r>
            <a:endParaRPr/>
          </a:p>
        </p:txBody>
      </p:sp>
      <p:sp>
        <p:nvSpPr>
          <p:cNvPr id="957" name="Google Shape;957;p55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958" name="Google Shape;958;p55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59" name="Google Shape;959;p55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	SYSTEM EXPANSION</a:t>
            </a:r>
            <a:endParaRPr/>
          </a:p>
        </p:txBody>
      </p:sp>
      <p:sp>
        <p:nvSpPr>
          <p:cNvPr id="960" name="Google Shape;960;p55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61" name="Google Shape;961;p55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62" name="Google Shape;962;p55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6"/>
          <p:cNvSpPr txBox="1"/>
          <p:nvPr>
            <p:ph idx="15" type="title"/>
          </p:nvPr>
        </p:nvSpPr>
        <p:spPr>
          <a:xfrm>
            <a:off x="38100" y="93150"/>
            <a:ext cx="2069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968" name="Google Shape;968;p56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 PCB DESIGN - SCHEMATICS</a:t>
            </a:r>
            <a:endParaRPr/>
          </a:p>
        </p:txBody>
      </p:sp>
      <p:sp>
        <p:nvSpPr>
          <p:cNvPr id="969" name="Google Shape;969;p56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pic>
        <p:nvPicPr>
          <p:cNvPr id="970" name="Google Shape;970;p56" title="Screenshot 2025-11-03 at 8.19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125" y="1152600"/>
            <a:ext cx="4950610" cy="36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56"/>
          <p:cNvSpPr txBox="1"/>
          <p:nvPr/>
        </p:nvSpPr>
        <p:spPr>
          <a:xfrm>
            <a:off x="6363450" y="1399813"/>
            <a:ext cx="2458200" cy="3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Chose and imported symbols for all key parts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Set correct electrical pin types (power, input, passive, etc.) and assigned footprints for each component.</a:t>
            </a:r>
            <a:endParaRPr sz="9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a"/>
              <a:buChar char="●"/>
            </a:pPr>
            <a:r>
              <a:rPr lang="en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Connected components using wires for clear visual routing of power, data, and control signals.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Ran Electrical Rules Check, fixed all errors.</a:t>
            </a:r>
            <a:endParaRPr sz="1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7"/>
          <p:cNvSpPr txBox="1"/>
          <p:nvPr>
            <p:ph idx="15" type="title"/>
          </p:nvPr>
        </p:nvSpPr>
        <p:spPr>
          <a:xfrm>
            <a:off x="38100" y="93150"/>
            <a:ext cx="2069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977" name="Google Shape;977;p57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 PCB DESIGN - PCB EDITOR</a:t>
            </a:r>
            <a:endParaRPr/>
          </a:p>
        </p:txBody>
      </p:sp>
      <p:sp>
        <p:nvSpPr>
          <p:cNvPr id="978" name="Google Shape;978;p57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979" name="Google Shape;979;p57"/>
          <p:cNvSpPr txBox="1"/>
          <p:nvPr/>
        </p:nvSpPr>
        <p:spPr>
          <a:xfrm>
            <a:off x="6363475" y="1175100"/>
            <a:ext cx="24582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Updated PCB from Schematic and Strategically arranged ESP32, microphone, potentiometers, LEDs, and connectors for compact layout and easy wiring access.</a:t>
            </a:r>
            <a:endParaRPr sz="9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Drew custom board shape and added screw holes for future enclosure mounting.</a:t>
            </a:r>
            <a:endParaRPr sz="9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a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Routed all power, signal, and ground traces </a:t>
            </a:r>
            <a:endParaRPr sz="9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Sora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Verified clearances, hole sizes, and track widths; fixed all unconnected nets and overlap warnings.</a:t>
            </a:r>
            <a:endParaRPr sz="9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900"/>
              <a:buChar char="●"/>
            </a:pPr>
            <a:r>
              <a:rPr lang="en"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Exported Gerber, Drill, and Step files for PCB fabrication and 3D modeling in Fusion 360.</a:t>
            </a:r>
            <a:endParaRPr sz="9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80" name="Google Shape;980;p57" title="Screenshot 2025-11-03 at 8.24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775" y="1186163"/>
            <a:ext cx="5418849" cy="35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8"/>
          <p:cNvSpPr txBox="1"/>
          <p:nvPr>
            <p:ph idx="15" type="title"/>
          </p:nvPr>
        </p:nvSpPr>
        <p:spPr>
          <a:xfrm>
            <a:off x="38100" y="93150"/>
            <a:ext cx="2069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986" name="Google Shape;986;p58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 PCB DESIGN - PCB EDITOR</a:t>
            </a:r>
            <a:endParaRPr/>
          </a:p>
        </p:txBody>
      </p:sp>
      <p:sp>
        <p:nvSpPr>
          <p:cNvPr id="987" name="Google Shape;987;p5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pic>
        <p:nvPicPr>
          <p:cNvPr id="988" name="Google Shape;988;p58" title="Screen Recording 2025-11-03 at 8.29.15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6863" y="1139625"/>
            <a:ext cx="5030275" cy="37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9"/>
          <p:cNvSpPr txBox="1"/>
          <p:nvPr>
            <p:ph idx="3" type="title"/>
          </p:nvPr>
        </p:nvSpPr>
        <p:spPr>
          <a:xfrm>
            <a:off x="115025" y="471075"/>
            <a:ext cx="89253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	</a:t>
            </a:r>
            <a:r>
              <a:rPr lang="en"/>
              <a:t>ENCLOSURE DESIGN - Autodesk Fusion  </a:t>
            </a:r>
            <a:endParaRPr/>
          </a:p>
        </p:txBody>
      </p:sp>
      <p:sp>
        <p:nvSpPr>
          <p:cNvPr id="994" name="Google Shape;994;p59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995" name="Google Shape;995;p59"/>
          <p:cNvSpPr txBox="1"/>
          <p:nvPr>
            <p:ph type="title"/>
          </p:nvPr>
        </p:nvSpPr>
        <p:spPr>
          <a:xfrm>
            <a:off x="38100" y="93150"/>
            <a:ext cx="20019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pic>
        <p:nvPicPr>
          <p:cNvPr id="996" name="Google Shape;996;p59" title="Screenshot 2025-11-03 at 8.48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75" y="1285225"/>
            <a:ext cx="2868750" cy="175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9" title="Screenshot 2025-11-03 at 8.49.1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425" y="1278025"/>
            <a:ext cx="2601915" cy="175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9" title="Screenshot 2025-11-03 at 8.49.3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874" y="1269775"/>
            <a:ext cx="2601924" cy="1802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9" title="Screenshot 2025-11-03 at 8.50.0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6800" y="3105025"/>
            <a:ext cx="2175117" cy="180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9" title="Screenshot 2025-11-03 at 8.50.26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6592" y="3125410"/>
            <a:ext cx="2574101" cy="1766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59" title="Screenshot 2025-11-03 at 8.50.57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40318" y="3125410"/>
            <a:ext cx="2044078" cy="1766541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59"/>
          <p:cNvSpPr txBox="1"/>
          <p:nvPr/>
        </p:nvSpPr>
        <p:spPr>
          <a:xfrm>
            <a:off x="2461950" y="2702850"/>
            <a:ext cx="69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Front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3" name="Google Shape;1003;p59"/>
          <p:cNvSpPr txBox="1"/>
          <p:nvPr/>
        </p:nvSpPr>
        <p:spPr>
          <a:xfrm>
            <a:off x="4862250" y="2702850"/>
            <a:ext cx="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Bottom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4" name="Google Shape;1004;p59"/>
          <p:cNvSpPr txBox="1"/>
          <p:nvPr/>
        </p:nvSpPr>
        <p:spPr>
          <a:xfrm>
            <a:off x="8114225" y="2756100"/>
            <a:ext cx="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Back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5" name="Google Shape;1005;p59"/>
          <p:cNvSpPr txBox="1"/>
          <p:nvPr/>
        </p:nvSpPr>
        <p:spPr>
          <a:xfrm>
            <a:off x="1829150" y="4620525"/>
            <a:ext cx="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Left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6" name="Google Shape;1006;p59"/>
          <p:cNvSpPr txBox="1"/>
          <p:nvPr/>
        </p:nvSpPr>
        <p:spPr>
          <a:xfrm>
            <a:off x="7897725" y="4568075"/>
            <a:ext cx="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Right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7" name="Google Shape;1007;p59"/>
          <p:cNvSpPr txBox="1"/>
          <p:nvPr/>
        </p:nvSpPr>
        <p:spPr>
          <a:xfrm>
            <a:off x="5186775" y="4568075"/>
            <a:ext cx="9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Top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0"/>
          <p:cNvSpPr txBox="1"/>
          <p:nvPr>
            <p:ph idx="3" type="title"/>
          </p:nvPr>
        </p:nvSpPr>
        <p:spPr>
          <a:xfrm>
            <a:off x="115025" y="471075"/>
            <a:ext cx="89253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	ENCLOSURE DESIGN - Autodesk Fusion  </a:t>
            </a:r>
            <a:endParaRPr/>
          </a:p>
        </p:txBody>
      </p:sp>
      <p:sp>
        <p:nvSpPr>
          <p:cNvPr id="1013" name="Google Shape;1013;p60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1014" name="Google Shape;1014;p60"/>
          <p:cNvSpPr txBox="1"/>
          <p:nvPr>
            <p:ph type="title"/>
          </p:nvPr>
        </p:nvSpPr>
        <p:spPr>
          <a:xfrm>
            <a:off x="38100" y="93150"/>
            <a:ext cx="20019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1015" name="Google Shape;1015;p60"/>
          <p:cNvSpPr txBox="1"/>
          <p:nvPr/>
        </p:nvSpPr>
        <p:spPr>
          <a:xfrm>
            <a:off x="3209775" y="2398575"/>
            <a:ext cx="24534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Demo of  3D VIEW</a:t>
            </a:r>
            <a:endParaRPr sz="2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 Software</a:t>
            </a:r>
            <a:endParaRPr sz="2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1"/>
          <p:cNvSpPr/>
          <p:nvPr/>
        </p:nvSpPr>
        <p:spPr>
          <a:xfrm flipH="1" rot="10800000">
            <a:off x="3820750" y="25034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1" name="Google Shape;1021;p61"/>
          <p:cNvSpPr/>
          <p:nvPr/>
        </p:nvSpPr>
        <p:spPr>
          <a:xfrm flipH="1" rot="10800000">
            <a:off x="3820750" y="33123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2" name="Google Shape;1022;p61"/>
          <p:cNvSpPr/>
          <p:nvPr/>
        </p:nvSpPr>
        <p:spPr>
          <a:xfrm>
            <a:off x="228600" y="17003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3" name="Google Shape;1023;p61"/>
          <p:cNvSpPr/>
          <p:nvPr/>
        </p:nvSpPr>
        <p:spPr>
          <a:xfrm>
            <a:off x="228600" y="25093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4" name="Google Shape;1024;p61"/>
          <p:cNvSpPr/>
          <p:nvPr/>
        </p:nvSpPr>
        <p:spPr>
          <a:xfrm>
            <a:off x="228600" y="33182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5" name="Google Shape;1025;p61"/>
          <p:cNvSpPr/>
          <p:nvPr/>
        </p:nvSpPr>
        <p:spPr>
          <a:xfrm flipH="1" rot="10800000">
            <a:off x="3820750" y="17205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6" name="Google Shape;1026;p61"/>
          <p:cNvSpPr txBox="1"/>
          <p:nvPr>
            <p:ph idx="3" type="title"/>
          </p:nvPr>
        </p:nvSpPr>
        <p:spPr>
          <a:xfrm>
            <a:off x="1129950" y="17640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PCBs</a:t>
            </a:r>
            <a:endParaRPr/>
          </a:p>
        </p:txBody>
      </p:sp>
      <p:sp>
        <p:nvSpPr>
          <p:cNvPr id="1027" name="Google Shape;1027;p61"/>
          <p:cNvSpPr txBox="1"/>
          <p:nvPr>
            <p:ph idx="6" type="title"/>
          </p:nvPr>
        </p:nvSpPr>
        <p:spPr>
          <a:xfrm>
            <a:off x="3820750" y="17640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 Designs to order custom PCB board</a:t>
            </a:r>
            <a:endParaRPr/>
          </a:p>
        </p:txBody>
      </p:sp>
      <p:sp>
        <p:nvSpPr>
          <p:cNvPr id="1028" name="Google Shape;1028;p61"/>
          <p:cNvSpPr txBox="1"/>
          <p:nvPr>
            <p:ph idx="7" type="title"/>
          </p:nvPr>
        </p:nvSpPr>
        <p:spPr>
          <a:xfrm>
            <a:off x="3820750" y="25729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Print the Enclosure for the board.</a:t>
            </a:r>
            <a:endParaRPr/>
          </a:p>
        </p:txBody>
      </p:sp>
      <p:sp>
        <p:nvSpPr>
          <p:cNvPr id="1029" name="Google Shape;1029;p61"/>
          <p:cNvSpPr txBox="1"/>
          <p:nvPr>
            <p:ph idx="8" type="title"/>
          </p:nvPr>
        </p:nvSpPr>
        <p:spPr>
          <a:xfrm>
            <a:off x="3820750" y="33818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more functions to the system so that all the knobs are functional.</a:t>
            </a:r>
            <a:endParaRPr/>
          </a:p>
        </p:txBody>
      </p:sp>
      <p:sp>
        <p:nvSpPr>
          <p:cNvPr id="1030" name="Google Shape;1030;p61"/>
          <p:cNvSpPr txBox="1"/>
          <p:nvPr>
            <p:ph type="title"/>
          </p:nvPr>
        </p:nvSpPr>
        <p:spPr>
          <a:xfrm>
            <a:off x="1143300" y="12983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Steps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31" name="Google Shape;1031;p61"/>
          <p:cNvSpPr txBox="1"/>
          <p:nvPr>
            <p:ph idx="2" type="title"/>
          </p:nvPr>
        </p:nvSpPr>
        <p:spPr>
          <a:xfrm>
            <a:off x="3820750" y="12983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What It Does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32" name="Google Shape;1032;p61"/>
          <p:cNvSpPr txBox="1"/>
          <p:nvPr>
            <p:ph idx="4" type="title"/>
          </p:nvPr>
        </p:nvSpPr>
        <p:spPr>
          <a:xfrm>
            <a:off x="1129950" y="25730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 Print</a:t>
            </a:r>
            <a:endParaRPr/>
          </a:p>
        </p:txBody>
      </p:sp>
      <p:sp>
        <p:nvSpPr>
          <p:cNvPr id="1033" name="Google Shape;1033;p61"/>
          <p:cNvSpPr txBox="1"/>
          <p:nvPr>
            <p:ph idx="5" type="title"/>
          </p:nvPr>
        </p:nvSpPr>
        <p:spPr>
          <a:xfrm>
            <a:off x="1129950" y="33819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More Functions</a:t>
            </a:r>
            <a:endParaRPr/>
          </a:p>
        </p:txBody>
      </p:sp>
      <p:sp>
        <p:nvSpPr>
          <p:cNvPr id="1034" name="Google Shape;1034;p61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  <p:sp>
        <p:nvSpPr>
          <p:cNvPr id="1035" name="Google Shape;1035;p61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36" name="Google Shape;1036;p61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	NEXT STEPS</a:t>
            </a:r>
            <a:endParaRPr/>
          </a:p>
        </p:txBody>
      </p:sp>
      <p:sp>
        <p:nvSpPr>
          <p:cNvPr id="1037" name="Google Shape;1037;p61"/>
          <p:cNvSpPr txBox="1"/>
          <p:nvPr>
            <p:ph idx="14" type="title"/>
          </p:nvPr>
        </p:nvSpPr>
        <p:spPr>
          <a:xfrm>
            <a:off x="228600" y="17004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38" name="Google Shape;1038;p61"/>
          <p:cNvSpPr txBox="1"/>
          <p:nvPr>
            <p:ph idx="16" type="title"/>
          </p:nvPr>
        </p:nvSpPr>
        <p:spPr>
          <a:xfrm>
            <a:off x="228600" y="2509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39" name="Google Shape;1039;p61"/>
          <p:cNvSpPr txBox="1"/>
          <p:nvPr>
            <p:ph idx="17" type="title"/>
          </p:nvPr>
        </p:nvSpPr>
        <p:spPr>
          <a:xfrm>
            <a:off x="228600" y="3318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40" name="Google Shape;1040;p61"/>
          <p:cNvSpPr/>
          <p:nvPr/>
        </p:nvSpPr>
        <p:spPr>
          <a:xfrm flipH="1" rot="10800000">
            <a:off x="3820750" y="39253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1" name="Google Shape;1041;p61"/>
          <p:cNvSpPr/>
          <p:nvPr/>
        </p:nvSpPr>
        <p:spPr>
          <a:xfrm>
            <a:off x="271900" y="40339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2" name="Google Shape;1042;p61"/>
          <p:cNvSpPr txBox="1"/>
          <p:nvPr>
            <p:ph idx="8" type="title"/>
          </p:nvPr>
        </p:nvSpPr>
        <p:spPr>
          <a:xfrm>
            <a:off x="3820750" y="38992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Assemble all the parts and playtest.</a:t>
            </a:r>
            <a:endParaRPr/>
          </a:p>
        </p:txBody>
      </p:sp>
      <p:sp>
        <p:nvSpPr>
          <p:cNvPr id="1043" name="Google Shape;1043;p61"/>
          <p:cNvSpPr txBox="1"/>
          <p:nvPr>
            <p:ph idx="5" type="title"/>
          </p:nvPr>
        </p:nvSpPr>
        <p:spPr>
          <a:xfrm>
            <a:off x="1173250" y="40976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</a:t>
            </a:r>
            <a:endParaRPr/>
          </a:p>
        </p:txBody>
      </p:sp>
      <p:sp>
        <p:nvSpPr>
          <p:cNvPr id="1044" name="Google Shape;1044;p61"/>
          <p:cNvSpPr txBox="1"/>
          <p:nvPr>
            <p:ph idx="17" type="title"/>
          </p:nvPr>
        </p:nvSpPr>
        <p:spPr>
          <a:xfrm>
            <a:off x="271900" y="40339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62"/>
          <p:cNvSpPr txBox="1"/>
          <p:nvPr>
            <p:ph idx="15" type="title"/>
          </p:nvPr>
        </p:nvSpPr>
        <p:spPr>
          <a:xfrm>
            <a:off x="38100" y="93150"/>
            <a:ext cx="20697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REACTIVE LED SYSTEM</a:t>
            </a:r>
            <a:endParaRPr/>
          </a:p>
        </p:txBody>
      </p:sp>
      <p:sp>
        <p:nvSpPr>
          <p:cNvPr id="1050" name="Google Shape;1050;p62"/>
          <p:cNvSpPr txBox="1"/>
          <p:nvPr>
            <p:ph idx="16" type="title"/>
          </p:nvPr>
        </p:nvSpPr>
        <p:spPr>
          <a:xfrm>
            <a:off x="3571456" y="22889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  <p:sp>
        <p:nvSpPr>
          <p:cNvPr id="1051" name="Google Shape;1051;p62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 J Gurung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